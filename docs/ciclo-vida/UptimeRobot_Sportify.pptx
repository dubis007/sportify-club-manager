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490691b-be9c-25da-3ad8-f7633c2102ad}">
          <p14:sldIdLst>
            <p14:sldId id="256"/>
            <p14:sldId id="257"/>
            <p14:sldId id="258"/>
          </p14:sldIdLst>
        </p14:section>
        <p14:section name="Integración" id="{dc54d3fe-24f6-6429-a4c1-68e8a97cddde}">
          <p14:sldIdLst>
            <p14:sldId id="259"/>
            <p14:sldId id="260"/>
            <p14:sldId id="261"/>
          </p14:sldIdLst>
        </p14:section>
        <p14:section name="Resultados" id="{a76a58ab-c177-8e28-b0de-8dcfc92fd0bc}">
          <p14:sldIdLst>
            <p14:sldId id="262"/>
            <p14:sldId id="263"/>
            <p14:sldId id="264"/>
            <p14:sldId id="265"/>
          </p14:sldIdLst>
        </p14:section>
        <p14:section name="Cierre" id="{89510d1a-9fb8-a119-b28e-0ae3ae93888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herramienta UptimeRobot, usada en la fase de Monitoreo del proyecto Sportify Club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UptimeRobot no se instala en el servidor: observa la aplicación desde Internet, igual que un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Ejecutar: node scripts/demo-trafico.mjs (10 usuarios virtuales, 60 s). Mostrar el resumen (req/s, promedio, p95, errores) y luego el panel de UptimeRobot: estado Up y gráfica de tiempo de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o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UptimeRobot · Sportify Club Manager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UptimeRobot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Monitoreo de disponibilidad de Sportify Club Manager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Fase 6 del ciclo de vida DevOps: Monitoreo</a:t>
            </a:r>
            <a:endParaRPr lang="en-US" sz="2000" dirty="0"/>
          </a:p>
        </p:txBody>
      </p:sp>
      <p:sp>
        <p:nvSpPr>
          <p:cNvPr id="4" name="Círculo portada"/>
          <p:cNvSpPr/>
          <p:nvPr/>
        </p:nvSpPr>
        <p:spPr>
          <a:xfrm>
            <a:off x="6400800" y="1325880"/>
            <a:ext cx="2194560" cy="219456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5" name="Icono lati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74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¿Qué es UptimeRobot?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Servicio en la nube (SaaS) que vigila sitios web y APIs desde fuera, como lo haría un usuario real.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cierto intervalo consulta una URL: si responde bien la marca como Up; si falla o tarda demasiado, Down.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Cuando cambia el estado envía una alerta y guarda el incidente en su historial.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Plan gratuito: 50 monitores con revisión cada 5 minutos, sin instalar nada en el servidor.</a:t>
            </a:r>
            <a:endParaRPr lang="en-US" sz="1600" dirty="0"/>
          </a:p>
        </p:txBody>
      </p:sp>
      <p:sp>
        <p:nvSpPr>
          <p:cNvPr id="4" name="Paso ciclo 1"/>
          <p:cNvSpPr/>
          <p:nvPr/>
        </p:nvSpPr>
        <p:spPr>
          <a:xfrm>
            <a:off x="5029200" y="1188720"/>
            <a:ext cx="3657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5" name="Paso ciclo 1 círculo"/>
          <p:cNvSpPr/>
          <p:nvPr/>
        </p:nvSpPr>
        <p:spPr>
          <a:xfrm>
            <a:off x="5138928" y="128930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Paso ciclo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3228" y="1403604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11887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UptimeRobot consulta la URL</a:t>
            </a:r>
            <a:endParaRPr lang="en-US" sz="1400" dirty="0"/>
          </a:p>
        </p:txBody>
      </p:sp>
      <p:sp>
        <p:nvSpPr>
          <p:cNvPr id="8" name="Paso ciclo 2"/>
          <p:cNvSpPr/>
          <p:nvPr/>
        </p:nvSpPr>
        <p:spPr>
          <a:xfrm>
            <a:off x="5029200" y="2029968"/>
            <a:ext cx="3657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9" name="Paso ciclo 2 círculo"/>
          <p:cNvSpPr/>
          <p:nvPr/>
        </p:nvSpPr>
        <p:spPr>
          <a:xfrm>
            <a:off x="5138928" y="213055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Paso ciclo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228" y="22448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20299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aplicación responde (código y tiempo)</a:t>
            </a:r>
            <a:endParaRPr lang="en-US" sz="1400" dirty="0"/>
          </a:p>
        </p:txBody>
      </p:sp>
      <p:sp>
        <p:nvSpPr>
          <p:cNvPr id="12" name="Paso ciclo 3"/>
          <p:cNvSpPr/>
          <p:nvPr/>
        </p:nvSpPr>
        <p:spPr>
          <a:xfrm>
            <a:off x="5029200" y="2871216"/>
            <a:ext cx="3657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3" name="Paso ciclo 3 círculo"/>
          <p:cNvSpPr/>
          <p:nvPr/>
        </p:nvSpPr>
        <p:spPr>
          <a:xfrm>
            <a:off x="5138928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aso ciclo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228" y="30861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15000" y="287121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 OK → Up · error o timeout → Down</a:t>
            </a:r>
            <a:endParaRPr lang="en-US" sz="1400" dirty="0"/>
          </a:p>
        </p:txBody>
      </p:sp>
      <p:sp>
        <p:nvSpPr>
          <p:cNvPr id="16" name="Paso ciclo 4"/>
          <p:cNvSpPr/>
          <p:nvPr/>
        </p:nvSpPr>
        <p:spPr>
          <a:xfrm>
            <a:off x="5029200" y="3712464"/>
            <a:ext cx="3657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7" name="Paso ciclo 4 círculo"/>
          <p:cNvSpPr/>
          <p:nvPr/>
        </p:nvSpPr>
        <p:spPr>
          <a:xfrm>
            <a:off x="5138928" y="38130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aso ciclo 4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228" y="392734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15000" y="371246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cambia a Down → alerta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Funciones que ofrece</a:t>
            </a:r>
            <a:endParaRPr lang="en-US" sz="3000" dirty="0"/>
          </a:p>
        </p:txBody>
      </p:sp>
      <p:sp>
        <p:nvSpPr>
          <p:cNvPr id="3" name="Función Tipos de monitor"/>
          <p:cNvSpPr/>
          <p:nvPr/>
        </p:nvSpPr>
        <p:spPr>
          <a:xfrm>
            <a:off x="457200" y="118872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Función Tipos de monitor círculo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Función Tipos de monitor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Tipos de monitor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HTTP(s), palabra clave, ping, puerto y heartbeat (avisos de tareas programadas)</a:t>
            </a:r>
            <a:endParaRPr lang="en-US" sz="1200" dirty="0"/>
          </a:p>
        </p:txBody>
      </p:sp>
      <p:sp>
        <p:nvSpPr>
          <p:cNvPr id="8" name="Función Alertas"/>
          <p:cNvSpPr/>
          <p:nvPr/>
        </p:nvSpPr>
        <p:spPr>
          <a:xfrm>
            <a:off x="3264408" y="118872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Función Alertas círculo"/>
          <p:cNvSpPr/>
          <p:nvPr/>
        </p:nvSpPr>
        <p:spPr>
          <a:xfrm>
            <a:off x="3447288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Función Alertas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18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Alertas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Correo, SMS, app móvil, Slack, Telegram, Discord y webhooks</a:t>
            </a:r>
            <a:endParaRPr lang="en-US" sz="1200" dirty="0"/>
          </a:p>
        </p:txBody>
      </p:sp>
      <p:sp>
        <p:nvSpPr>
          <p:cNvPr id="13" name="Función Tiempo de respuesta"/>
          <p:cNvSpPr/>
          <p:nvPr/>
        </p:nvSpPr>
        <p:spPr>
          <a:xfrm>
            <a:off x="6071616" y="118872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Función Tiempo de respuesta círculo"/>
          <p:cNvSpPr/>
          <p:nvPr/>
        </p:nvSpPr>
        <p:spPr>
          <a:xfrm>
            <a:off x="6254496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unción Tiempo de respuesta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26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Tiempo de respuesta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Gráfica con promedio, mínimo y máximo de cada chequeo</a:t>
            </a:r>
            <a:endParaRPr lang="en-US" sz="1200" dirty="0"/>
          </a:p>
        </p:txBody>
      </p:sp>
      <p:sp>
        <p:nvSpPr>
          <p:cNvPr id="18" name="Función Incidentes"/>
          <p:cNvSpPr/>
          <p:nvPr/>
        </p:nvSpPr>
        <p:spPr>
          <a:xfrm>
            <a:off x="457200" y="292608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Función Incidentes círculo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Función Incidentes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Incidentes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Historial de caídas con causa (p. ej. 502), duración y % de uptime</a:t>
            </a:r>
            <a:endParaRPr lang="en-US" sz="1200" dirty="0"/>
          </a:p>
        </p:txBody>
      </p:sp>
      <p:sp>
        <p:nvSpPr>
          <p:cNvPr id="23" name="Función Status pages"/>
          <p:cNvSpPr/>
          <p:nvPr/>
        </p:nvSpPr>
        <p:spPr>
          <a:xfrm>
            <a:off x="3264408" y="292608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4" name="Función Status pages círculo"/>
          <p:cNvSpPr/>
          <p:nvPr/>
        </p:nvSpPr>
        <p:spPr>
          <a:xfrm>
            <a:off x="3447288" y="3108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Función Status pages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18" y="323469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7368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 pages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Página pública con el estado del servicio para los usuarios</a:t>
            </a:r>
            <a:endParaRPr lang="en-US" sz="1200" dirty="0"/>
          </a:p>
        </p:txBody>
      </p:sp>
      <p:sp>
        <p:nvSpPr>
          <p:cNvPr id="28" name="Función Mantenimiento"/>
          <p:cNvSpPr/>
          <p:nvPr/>
        </p:nvSpPr>
        <p:spPr>
          <a:xfrm>
            <a:off x="6071616" y="2926080"/>
            <a:ext cx="2615184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9" name="Función Mantenimiento círculo"/>
          <p:cNvSpPr/>
          <p:nvPr/>
        </p:nvSpPr>
        <p:spPr>
          <a:xfrm>
            <a:off x="6254496" y="31089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Función Mantenimiento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226" y="323469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Mantenimiento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Ventanas programadas que pausan las alertas durante cambios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¿Por qué la usamos en Sportify?</a:t>
            </a:r>
            <a:endParaRPr lang="en-US" sz="3000" dirty="0"/>
          </a:p>
        </p:txBody>
      </p:sp>
      <p:sp>
        <p:nvSpPr>
          <p:cNvPr id="3" name="Problema 1"/>
          <p:cNvSpPr/>
          <p:nvPr/>
        </p:nvSpPr>
        <p:spPr>
          <a:xfrm>
            <a:off x="45720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34 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tardó la primera petición a la 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plan gratuito de Render duerme la API tras 15 min sin tráfico; el primer usuario espera a que despierte.</a:t>
            </a:r>
            <a:endParaRPr lang="en-US" sz="1400" dirty="0"/>
          </a:p>
        </p:txBody>
      </p:sp>
      <p:sp>
        <p:nvSpPr>
          <p:cNvPr id="7" name="Problema 2"/>
          <p:cNvSpPr/>
          <p:nvPr/>
        </p:nvSpPr>
        <p:spPr>
          <a:xfrm>
            <a:off x="475488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8" name="Problema 2 círculo"/>
          <p:cNvSpPr/>
          <p:nvPr/>
        </p:nvSpPr>
        <p:spPr>
          <a:xfrm>
            <a:off x="5029200" y="14630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Problema 2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940" y="16687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Nadie se enteraba de una caída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2834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monitoreo externo, una caída de la API o de la base de datos solo se notaba cuando un usuario intentaba entrar.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Cómo encaja en la arquitectura</a:t>
            </a:r>
            <a:endParaRPr lang="en-US" sz="3000" dirty="0"/>
          </a:p>
        </p:txBody>
      </p:sp>
      <p:sp>
        <p:nvSpPr>
          <p:cNvPr id="3" name="Nodo UptimeRobot"/>
          <p:cNvSpPr/>
          <p:nvPr/>
        </p:nvSpPr>
        <p:spPr>
          <a:xfrm>
            <a:off x="457200" y="132588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Nodo UptimeRobot círculo"/>
          <p:cNvSpPr/>
          <p:nvPr/>
        </p:nvSpPr>
        <p:spPr>
          <a:xfrm>
            <a:off x="141732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odo UptimeRobot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UptimeRobot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monitor HTTP(s)</a:t>
            </a:r>
            <a:endParaRPr lang="en-US" sz="1200" dirty="0"/>
          </a:p>
        </p:txBody>
      </p:sp>
      <p:sp>
        <p:nvSpPr>
          <p:cNvPr id="8" name="Nodo API .NET en Render"/>
          <p:cNvSpPr/>
          <p:nvPr/>
        </p:nvSpPr>
        <p:spPr>
          <a:xfrm>
            <a:off x="3291840" y="132588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Nodo API .NET en Render círculo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Nodo API .NET en Render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 .NET en Render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GET /api/health</a:t>
            </a:r>
            <a:endParaRPr lang="en-US" sz="1200" dirty="0"/>
          </a:p>
        </p:txBody>
      </p:sp>
      <p:sp>
        <p:nvSpPr>
          <p:cNvPr id="13" name="Nodo MySQL en Aiven"/>
          <p:cNvSpPr/>
          <p:nvPr/>
        </p:nvSpPr>
        <p:spPr>
          <a:xfrm>
            <a:off x="6126480" y="132588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Nodo MySQL en Aiven círculo"/>
          <p:cNvSpPr/>
          <p:nvPr/>
        </p:nvSpPr>
        <p:spPr>
          <a:xfrm>
            <a:off x="7086600" y="14630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Nodo MySQL en Aiven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16230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 en Aiven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 «Database»</a:t>
            </a:r>
            <a:endParaRPr lang="en-US" sz="1200" dirty="0"/>
          </a:p>
        </p:txBody>
      </p:sp>
      <p:sp>
        <p:nvSpPr>
          <p:cNvPr id="18" name="Flecha 1"/>
          <p:cNvSpPr/>
          <p:nvPr/>
        </p:nvSpPr>
        <p:spPr>
          <a:xfrm>
            <a:off x="3035808" y="2121408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Flecha 2"/>
          <p:cNvSpPr/>
          <p:nvPr/>
        </p:nvSpPr>
        <p:spPr>
          <a:xfrm>
            <a:off x="5870448" y="2121408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269748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cada 5 min</a:t>
            </a:r>
            <a:endParaRPr lang="en-US" sz="1000" dirty="0"/>
          </a:p>
        </p:txBody>
      </p:sp>
      <p:sp>
        <p:nvSpPr>
          <p:cNvPr id="21" name="Resultado del chequeo"/>
          <p:cNvSpPr/>
          <p:nvPr/>
        </p:nvSpPr>
        <p:spPr>
          <a:xfrm>
            <a:off x="457200" y="3200400"/>
            <a:ext cx="822960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2" name="Alerta círculo"/>
          <p:cNvSpPr/>
          <p:nvPr/>
        </p:nvSpPr>
        <p:spPr>
          <a:xfrm>
            <a:off x="685800" y="34747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Alerta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366903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1640" y="3291840"/>
            <a:ext cx="6812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Healthy → 200 → Up.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la API no responde o la base de datos falla → error → Down y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alerta por correo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Además, el chequeo cada 5 min mantiene despierta la API (keep-alive).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Proceso de integración</a:t>
            </a:r>
            <a:endParaRPr lang="en-US" sz="3000" dirty="0"/>
          </a:p>
        </p:txBody>
      </p:sp>
      <p:sp>
        <p:nvSpPr>
          <p:cNvPr id="3" name="Línea de tiempo"/>
          <p:cNvSpPr/>
          <p:nvPr/>
        </p:nvSpPr>
        <p:spPr>
          <a:xfrm>
            <a:off x="914400" y="1664208"/>
            <a:ext cx="7315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Paso 1"/>
          <p:cNvSpPr/>
          <p:nvPr/>
        </p:nvSpPr>
        <p:spPr>
          <a:xfrm>
            <a:off x="914400" y="138988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Endpoint de salud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 API expone /api/health (ASP.NET Health Checks) y verifica la conexión a MySQL</a:t>
            </a:r>
            <a:endParaRPr lang="en-US" sz="1200" dirty="0"/>
          </a:p>
        </p:txBody>
      </p:sp>
      <p:sp>
        <p:nvSpPr>
          <p:cNvPr id="8" name="Paso 2"/>
          <p:cNvSpPr/>
          <p:nvPr/>
        </p:nvSpPr>
        <p:spPr>
          <a:xfrm>
            <a:off x="2596896" y="138988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96896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Crear la cuenta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26517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Registro gratuito en uptimerobot.com</a:t>
            </a:r>
            <a:endParaRPr lang="en-US" sz="1200" dirty="0"/>
          </a:p>
        </p:txBody>
      </p:sp>
      <p:sp>
        <p:nvSpPr>
          <p:cNvPr id="12" name="Paso 3"/>
          <p:cNvSpPr/>
          <p:nvPr/>
        </p:nvSpPr>
        <p:spPr>
          <a:xfrm>
            <a:off x="4279392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79392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Nuevo monitor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26517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Add New Monitor → HTTP(s) → URL pública de /api/health → cada 5 min</a:t>
            </a:r>
            <a:endParaRPr lang="en-US" sz="1200" dirty="0"/>
          </a:p>
        </p:txBody>
      </p:sp>
      <p:sp>
        <p:nvSpPr>
          <p:cNvPr id="16" name="Paso 4"/>
          <p:cNvSpPr/>
          <p:nvPr/>
        </p:nvSpPr>
        <p:spPr>
          <a:xfrm>
            <a:off x="5961888" y="138988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61888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Contacto de alerta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26517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Correo del equipo para recibir avisos de Down y Up</a:t>
            </a:r>
            <a:endParaRPr lang="en-US" sz="1200" dirty="0"/>
          </a:p>
        </p:txBody>
      </p:sp>
      <p:sp>
        <p:nvSpPr>
          <p:cNvPr id="20" name="Paso 5"/>
          <p:cNvSpPr/>
          <p:nvPr/>
        </p:nvSpPr>
        <p:spPr>
          <a:xfrm>
            <a:off x="7644384" y="138988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44384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Verificar y documentar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26517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Monitor en Up, medición del keep-alive y registro en la bitácora (#23)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URL monitoreada: https://sportify-api-ps0y.onrender.com/api/health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Resultados: la API ya no se duerme</a:t>
            </a:r>
            <a:endParaRPr lang="en-US" sz="3000" dirty="0"/>
          </a:p>
        </p:txBody>
      </p:sp>
      <p:sp>
        <p:nvSpPr>
          <p:cNvPr id="3" name="Antes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34 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Antes: API dormida, primera petición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→</a:t>
            </a:r>
            <a:endParaRPr lang="en-US" sz="3600" dirty="0"/>
          </a:p>
        </p:txBody>
      </p:sp>
      <p:sp>
        <p:nvSpPr>
          <p:cNvPr id="7" name="Después"/>
          <p:cNvSpPr/>
          <p:nvPr/>
        </p:nvSpPr>
        <p:spPr>
          <a:xfrm>
            <a:off x="3657600" y="11887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40480" y="1325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1,06 s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UptimeRobot, tras ≈3 h sin tráfico propio</a:t>
            </a:r>
            <a:endParaRPr lang="en-US" sz="1400" dirty="0"/>
          </a:p>
        </p:txBody>
      </p:sp>
      <p:sp>
        <p:nvSpPr>
          <p:cNvPr id="10" name="Chequeos"/>
          <p:cNvSpPr/>
          <p:nvPr/>
        </p:nvSpPr>
        <p:spPr>
          <a:xfrm>
            <a:off x="6583680" y="118872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288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chequeos al día (uno cada 5 min)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Doble función: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mismo monitor observa (Monitoreo: disponibilidad, tiempos, incidentes) y actúa como keep-alive (Operación: mantiene la API despierta).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UptimeRobot detectó una caída real</a:t>
            </a:r>
            <a:endParaRPr lang="en-US" sz="3000" dirty="0"/>
          </a:p>
        </p:txBody>
      </p:sp>
      <p:pic>
        <p:nvPicPr>
          <p:cNvPr id="3" name="Captura monitor Down" descr="C:/sportify-repo/docs/ciclo-vida/img/uptimerobot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1949760"/>
          </a:xfrm>
          <a:prstGeom prst="rect">
            <a:avLst/>
          </a:prstGeom>
        </p:spPr>
      </p:pic>
      <p:pic>
        <p:nvPicPr>
          <p:cNvPr id="4" name="Captura incidentes" descr="C:/sportify-repo/docs/ciclo-vida/img/uptimerobot-respuesta-inciden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2880360" cy="211837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24612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20-oct, 14:09: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API empezó a responder 502 Bad Gateway; el monitor pasó a Down y registró el incidente con su causa.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Disponibilidad últimos 7 días: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92,6 % (2 incidentes).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tx2"/>
                </a:solidFill>
              </a:rPr>
              <a:t>Sin el monitor, la caída solo se habría notado cuando un usuario intentara entrar.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Recuperación: el monitor vuelve a Up</a:t>
            </a:r>
            <a:endParaRPr lang="en-US" sz="3000" dirty="0"/>
          </a:p>
        </p:txBody>
      </p:sp>
      <p:pic>
        <p:nvPicPr>
          <p:cNvPr id="3" name="Captura monitor Up" descr="C:/sportify-repo/docs/ciclo-vida/img/uptimerobot-monitor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663440" cy="2214387"/>
          </a:xfrm>
          <a:prstGeom prst="rect">
            <a:avLst/>
          </a:prstGeom>
        </p:spPr>
      </p:pic>
      <p:pic>
        <p:nvPicPr>
          <p:cNvPr id="4" name="Captura incidentes resueltos" descr="C:/sportify-repo/docs/ciclo-vida/img/uptimerobot-incidentes-resuel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43000"/>
            <a:ext cx="3291840" cy="25077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Incidente resuelto: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duró 2 h 37 min (14:09 → 16:46).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Disponibilidad 7 días: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88,5 %, un dato medido que antes no teníamos.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tx2"/>
                </a:solidFill>
              </a:rPr>
              <a:t>El historial queda como evidencia para mejorar la operación.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 la alerta a la acción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Qué detecta UptimeRobot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Qué significa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Quién actúa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Down con timeout o 502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 API no arranca o no responde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Operación: revisar logs de Render y reiniciar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Down con 503 en /api/health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 API vive, pero la base de datos falla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Operación: revisar Aiven / restaurar respaldo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Tiempo de respuesta alto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Carga excesiva o recursos al límite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Revisar métricas de Render; optimizar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Incidentes repetidos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Problema de fondo en el código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Desarrollo: issue → nuevo ciclo DevOps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El monitoreo detecta y avisa; la corrección la hace la fase de Operación.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Conclusión 1"/>
          <p:cNvSpPr/>
          <p:nvPr/>
        </p:nvSpPr>
        <p:spPr>
          <a:xfrm>
            <a:off x="457200" y="1188720"/>
            <a:ext cx="822960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/>
        </p:spPr>
      </p:sp>
      <p:sp>
        <p:nvSpPr>
          <p:cNvPr id="4" name="Conclusión 1 círculo"/>
          <p:cNvSpPr/>
          <p:nvPr/>
        </p:nvSpPr>
        <p:spPr>
          <a:xfrm>
            <a:off x="658368" y="133502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Conclusión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495044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984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Simple y gratuito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642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integró en minutos, sin código nuevo: reutiliza /api/health.</a:t>
            </a:r>
            <a:endParaRPr lang="en-US" sz="1400" dirty="0"/>
          </a:p>
        </p:txBody>
      </p:sp>
      <p:sp>
        <p:nvSpPr>
          <p:cNvPr id="8" name="Conclusión 2"/>
          <p:cNvSpPr/>
          <p:nvPr/>
        </p:nvSpPr>
        <p:spPr>
          <a:xfrm>
            <a:off x="457200" y="2304288"/>
            <a:ext cx="822960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/>
        </p:spPr>
      </p:sp>
      <p:sp>
        <p:nvSpPr>
          <p:cNvPr id="9" name="Conclusión 2 círculo"/>
          <p:cNvSpPr/>
          <p:nvPr/>
        </p:nvSpPr>
        <p:spPr>
          <a:xfrm>
            <a:off x="658368" y="2450592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Conclusión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261061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4140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Visibilidad real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7797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Disponibilidad, tiempos de respuesta e incidentes con su causa.</a:t>
            </a:r>
            <a:endParaRPr lang="en-US" sz="1400" dirty="0"/>
          </a:p>
        </p:txBody>
      </p:sp>
      <p:sp>
        <p:nvSpPr>
          <p:cNvPr id="13" name="Conclusión 3"/>
          <p:cNvSpPr/>
          <p:nvPr/>
        </p:nvSpPr>
        <p:spPr>
          <a:xfrm>
            <a:off x="457200" y="3419856"/>
            <a:ext cx="822960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/>
        </p:spPr>
      </p:sp>
      <p:sp>
        <p:nvSpPr>
          <p:cNvPr id="14" name="Conclusión 3 círculo"/>
          <p:cNvSpPr/>
          <p:nvPr/>
        </p:nvSpPr>
        <p:spPr>
          <a:xfrm>
            <a:off x="658368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onclusión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37261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5295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Cierra el ciclo DevOps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8953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 observado se convierte en acciones de Operación y mejoras.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Demo en vivo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Tráfico artificial contra la API y su efecto en UptimeRobot</a:t>
            </a:r>
            <a:endParaRPr lang="en-US" sz="2000" dirty="0"/>
          </a:p>
        </p:txBody>
      </p:sp>
      <p:sp>
        <p:nvSpPr>
          <p:cNvPr id="4" name="Círculo demo"/>
          <p:cNvSpPr/>
          <p:nvPr/>
        </p:nvSpPr>
        <p:spPr>
          <a:xfrm>
            <a:off x="6400800" y="132588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pla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0116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ortify Monitoreo">
  <a:themeElements>
    <a:clrScheme name="Sportify Monitoreo">
      <a:dk1>
        <a:srgbClr val="1B2433"/>
      </a:dk1>
      <a:lt1>
        <a:srgbClr val="FFFFFF"/>
      </a:lt1>
      <a:dk2>
        <a:srgbClr val="56627A"/>
      </a:dk2>
      <a:lt2>
        <a:srgbClr val="EEF2F6"/>
      </a:lt2>
      <a:accent1>
        <a:srgbClr val="2FBF68"/>
      </a:accent1>
      <a:accent2>
        <a:srgbClr val="E5484D"/>
      </a:accent2>
      <a:accent3>
        <a:srgbClr val="F2A93B"/>
      </a:accent3>
      <a:accent4>
        <a:srgbClr val="3D7FE0"/>
      </a:accent4>
      <a:accent5>
        <a:srgbClr val="253047"/>
      </a:accent5>
      <a:accent6>
        <a:srgbClr val="A9B4C6"/>
      </a:accent6>
      <a:hlink>
        <a:srgbClr val="3D7FE0"/>
      </a:hlink>
      <a:folHlink>
        <a:srgbClr val="56627A"/>
      </a:folHlink>
    </a:clrScheme>
    <a:fontScheme name="Sportify Monitore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UptimeRobot en Sportify Club Manager</dc:title>
  <dc:subject>PptxGenJS Presentation</dc:subject>
  <dc:creator>Sportify Club Manager</dc:creator>
  <cp:lastModifiedBy>Sportify Club Manager</cp:lastModifiedBy>
  <cp:revision>1</cp:revision>
  <dcterms:created xsi:type="dcterms:W3CDTF">2026-10-20T21:55:26Z</dcterms:created>
  <dcterms:modified xsi:type="dcterms:W3CDTF">2026-10-20T21:55:26Z</dcterms:modified>
</cp:coreProperties>
</file>